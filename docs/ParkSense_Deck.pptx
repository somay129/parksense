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Kesha/Desktop/gridlock/docs/screenshots/01_command_heat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0"/>
            <a:ext cx="588233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309360" cy="6858000"/>
          </a:xfrm>
          <a:prstGeom prst="rect">
            <a:avLst/>
          </a:prstGeom>
          <a:solidFill>
            <a:srgbClr val="0E1216"/>
          </a:solidFill>
          <a:ln/>
        </p:spPr>
      </p:sp>
      <p:sp>
        <p:nvSpPr>
          <p:cNvPr id="4" name="Shape 1"/>
          <p:cNvSpPr/>
          <p:nvPr/>
        </p:nvSpPr>
        <p:spPr>
          <a:xfrm>
            <a:off x="6291072" y="0"/>
            <a:ext cx="27432" cy="6858000"/>
          </a:xfrm>
          <a:prstGeom prst="rect">
            <a:avLst/>
          </a:prstGeom>
          <a:solidFill>
            <a:srgbClr val="F0A93B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777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37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FLIPKART GRIDLOCK 2.0  ·  ROUND 2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76656" y="214884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DF1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ParkSense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731520" y="32461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A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Parking-Induced Congestion Intelligence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379476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AA6B1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A decision tool for traffic-enforcement command centres — turning 298,450 violation records into a ranked patrol plan.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31520" y="5074920"/>
            <a:ext cx="502920" cy="18288"/>
          </a:xfrm>
          <a:prstGeom prst="rect">
            <a:avLst/>
          </a:prstGeom>
          <a:solidFill>
            <a:srgbClr val="3A4650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5212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F1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Keshav Singla   ·   Aadya Jain   ·   Purva Jain   ·   Shravani Singh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5577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C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parksense-e1w1.onrender.com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0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 </a:t>
            </a:r>
            <a:pPr indent="0" marL="0">
              <a:buNone/>
            </a:pPr>
            <a:r>
              <a:rPr lang="en-US" sz="1200" spc="300" kern="0" dirty="0">
                <a:solidFill>
                  <a:srgbClr val="9AA6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37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PARKSENSE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6384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37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DF1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Detection is solved.</a:t>
            </a:r>
            <a:endParaRPr lang="en-US" sz="3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DF1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Prioritisation isn't.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5669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DF1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violation in this dataset is already detected and labelled. The hard part is deciding where enforcement should go first.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5669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9AA6B1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A command centre cannot act on 298,000 dots on a map. It needs to know which locations are doing the most damage to traffic flow — and where enforcement is failing to match it.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4983480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6370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brief asks to quantify impact to enable targeted enforcement. That quantification is the product.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903720" y="2286000"/>
            <a:ext cx="4645152" cy="1143000"/>
          </a:xfrm>
          <a:prstGeom prst="roundRect">
            <a:avLst>
              <a:gd name="adj" fmla="val 4000"/>
            </a:avLst>
          </a:prstGeom>
          <a:solidFill>
            <a:srgbClr val="161D23"/>
          </a:solidFill>
          <a:ln w="12700">
            <a:solidFill>
              <a:srgbClr val="2731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03720" y="2286000"/>
            <a:ext cx="54864" cy="1143000"/>
          </a:xfrm>
          <a:prstGeom prst="rect">
            <a:avLst/>
          </a:prstGeom>
          <a:solidFill>
            <a:srgbClr val="C03A4E"/>
          </a:solidFill>
          <a:ln/>
        </p:spPr>
      </p:sp>
      <p:sp>
        <p:nvSpPr>
          <p:cNvPr id="11" name="Text 9"/>
          <p:cNvSpPr/>
          <p:nvPr/>
        </p:nvSpPr>
        <p:spPr>
          <a:xfrm>
            <a:off x="7178040" y="2395728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EDF1F5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298,450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7196328" y="30632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6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incidents analysed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903720" y="3611880"/>
            <a:ext cx="4645152" cy="1143000"/>
          </a:xfrm>
          <a:prstGeom prst="roundRect">
            <a:avLst>
              <a:gd name="adj" fmla="val 4000"/>
            </a:avLst>
          </a:prstGeom>
          <a:solidFill>
            <a:srgbClr val="161D23"/>
          </a:solidFill>
          <a:ln w="12700">
            <a:solidFill>
              <a:srgbClr val="2731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03720" y="3611880"/>
            <a:ext cx="54864" cy="1143000"/>
          </a:xfrm>
          <a:prstGeom prst="rect">
            <a:avLst/>
          </a:prstGeom>
          <a:solidFill>
            <a:srgbClr val="ED6A26"/>
          </a:solidFill>
          <a:ln/>
        </p:spPr>
      </p:sp>
      <p:sp>
        <p:nvSpPr>
          <p:cNvPr id="15" name="Text 13"/>
          <p:cNvSpPr/>
          <p:nvPr/>
        </p:nvSpPr>
        <p:spPr>
          <a:xfrm>
            <a:off x="7178040" y="3721608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EDF1F5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348,455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7196328" y="438912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6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violations, multi-label &amp; exploded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903720" y="4937760"/>
            <a:ext cx="4645152" cy="1143000"/>
          </a:xfrm>
          <a:prstGeom prst="roundRect">
            <a:avLst>
              <a:gd name="adj" fmla="val 4000"/>
            </a:avLst>
          </a:prstGeom>
          <a:solidFill>
            <a:srgbClr val="161D23"/>
          </a:solidFill>
          <a:ln w="12700">
            <a:solidFill>
              <a:srgbClr val="2731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03720" y="4937760"/>
            <a:ext cx="54864" cy="1143000"/>
          </a:xfrm>
          <a:prstGeom prst="rect">
            <a:avLst/>
          </a:prstGeom>
          <a:solidFill>
            <a:srgbClr val="F4B41F"/>
          </a:solidFill>
          <a:ln/>
        </p:spPr>
      </p:sp>
      <p:sp>
        <p:nvSpPr>
          <p:cNvPr id="19" name="Text 17"/>
          <p:cNvSpPr/>
          <p:nvPr/>
        </p:nvSpPr>
        <p:spPr>
          <a:xfrm>
            <a:off x="7178040" y="5047488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EDF1F5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2,534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7196328" y="571500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6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geographic impact cells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0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 </a:t>
            </a:r>
            <a:pPr indent="0" marL="0">
              <a:buNone/>
            </a:pPr>
            <a:r>
              <a:rPr lang="en-US" sz="1200" spc="300" kern="0" dirty="0">
                <a:solidFill>
                  <a:srgbClr val="9AA6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OUR THESIS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37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PARKSENSE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6384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37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DF1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 don't compete on detection.</a:t>
            </a:r>
            <a:endParaRPr lang="en-US" sz="3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DF1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 compete on impact.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5303520" cy="3291840"/>
          </a:xfrm>
          <a:prstGeom prst="roundRect">
            <a:avLst>
              <a:gd name="adj" fmla="val 1389"/>
            </a:avLst>
          </a:prstGeom>
          <a:solidFill>
            <a:srgbClr val="161D23"/>
          </a:solidFill>
          <a:ln w="12700">
            <a:solidFill>
              <a:srgbClr val="2731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77063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37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MOST SUBMISSIONS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F1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Plot the violations on a map.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749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6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  Re-states what is already known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4206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6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  A wall of undifferentiated dots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14400" y="4663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6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  No priority, no explanation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14400" y="5120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6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  No link to enforcement effort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45352" y="2514600"/>
            <a:ext cx="5303520" cy="3291840"/>
          </a:xfrm>
          <a:prstGeom prst="roundRect">
            <a:avLst>
              <a:gd name="adj" fmla="val 1389"/>
            </a:avLst>
          </a:prstGeom>
          <a:solidFill>
            <a:srgbClr val="1C262E"/>
          </a:solidFill>
          <a:ln w="15875">
            <a:solidFill>
              <a:srgbClr val="F0A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9672" y="277063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0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PARKSENSE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19672" y="31089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F1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Score and rank the impact.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19672" y="3749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DF1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 Weights what the violation is, not just how many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519672" y="4206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DF1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 An explainable Congestion Impact Score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519672" y="4663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DF1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 A ranked, prioritised action list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519672" y="5120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DF1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 Flags high-impact, under-enforced zones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0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 </a:t>
            </a:r>
            <a:pPr indent="0" marL="0">
              <a:buNone/>
            </a:pPr>
            <a:r>
              <a:rPr lang="en-US" sz="1200" spc="300" kern="0" dirty="0">
                <a:solidFill>
                  <a:srgbClr val="9AA6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37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PARKSENSE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6384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37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DF1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Three instruments, one action list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10908792" cy="1207008"/>
          </a:xfrm>
          <a:prstGeom prst="roundRect">
            <a:avLst>
              <a:gd name="adj" fmla="val 3788"/>
            </a:avLst>
          </a:prstGeom>
          <a:solidFill>
            <a:srgbClr val="161D23"/>
          </a:solidFill>
          <a:ln w="12700">
            <a:solidFill>
              <a:srgbClr val="2731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441448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4B41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01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2240280" y="2423160"/>
            <a:ext cx="9052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DF1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Congestion Impact Score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2240280" y="2862072"/>
            <a:ext cx="9052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AA6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transparent per-location score — severity, vehicle footprint, density, persistence and peak pressure, normalised to 0–100.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611880"/>
            <a:ext cx="10908792" cy="1207008"/>
          </a:xfrm>
          <a:prstGeom prst="roundRect">
            <a:avLst>
              <a:gd name="adj" fmla="val 3788"/>
            </a:avLst>
          </a:prstGeom>
          <a:solidFill>
            <a:srgbClr val="161D23"/>
          </a:solidFill>
          <a:ln w="12700">
            <a:solidFill>
              <a:srgbClr val="2731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813048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ED6A26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02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2240280" y="3794760"/>
            <a:ext cx="9052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DF1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Enforcement Efficiency Gap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2240280" y="4233672"/>
            <a:ext cx="9052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AA6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 vs. enforcement performance per station. Surfaces the high-impact, under-enforced zones to reallocate patrols.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983480"/>
            <a:ext cx="10908792" cy="1207008"/>
          </a:xfrm>
          <a:prstGeom prst="roundRect">
            <a:avLst>
              <a:gd name="adj" fmla="val 3788"/>
            </a:avLst>
          </a:prstGeom>
          <a:solidFill>
            <a:srgbClr val="161D23"/>
          </a:solidFill>
          <a:ln w="12700">
            <a:solidFill>
              <a:srgbClr val="2731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5184648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C03A4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03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2240280" y="5166360"/>
            <a:ext cx="9052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DF1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Hotspot Forecasting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2240280" y="5605272"/>
            <a:ext cx="9052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AA6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backtested per-cell model for next-day intensity, plus emerging-hotspot watch zones — pre-position, don't react.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0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 </a:t>
            </a:r>
            <a:pPr indent="0" marL="0">
              <a:buNone/>
            </a:pPr>
            <a:r>
              <a:rPr lang="en-US" sz="1200" spc="300" kern="0" dirty="0">
                <a:solidFill>
                  <a:srgbClr val="9AA6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INSTRUMENT 01 — CONGESTION IMPACT SCORE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37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PARKSENSE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6384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37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DF1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score you can defend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5486400" cy="566928"/>
          </a:xfrm>
          <a:prstGeom prst="roundRect">
            <a:avLst>
              <a:gd name="adj" fmla="val 8065"/>
            </a:avLst>
          </a:prstGeom>
          <a:solidFill>
            <a:srgbClr val="12181D"/>
          </a:solidFill>
          <a:ln w="12700">
            <a:solidFill>
              <a:srgbClr val="2731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94560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6C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CIS = (Σ wᵢ·componentᵢ / Σw) · 100 · n/(n+k)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0.35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3017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F1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Severity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46120" y="30175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6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footpath / main-road obstruction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3566160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0.20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3566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F1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Footprint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46120" y="35661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6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carriageway width by vehicle type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4114800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0.20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71600" y="4114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F1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Density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46120" y="41148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6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volume, log-scaled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" y="4663440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0.10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4663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F1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Persistence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46120" y="46634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6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chronic vs. one-off activity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5212080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71600" y="5212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F1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Peak pressure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46120" y="52120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6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 in data-derived peak hours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" y="58064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6370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Peak hours are derived from the data (04, 05, 08–11), not assumed. A confidence factor stops one-off incidents ranking beside chronic hotspots.</a:t>
            </a:r>
            <a:endParaRPr lang="en-US" sz="1150" dirty="0"/>
          </a:p>
        </p:txBody>
      </p:sp>
      <p:pic>
        <p:nvPicPr>
          <p:cNvPr id="24" name="Image 0" descr="C:/Users/Kesha/Desktop/gridlock/docs/screenshots/02_cis_breakdow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46520" y="2194560"/>
            <a:ext cx="5120640" cy="288036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6446520" y="5138928"/>
            <a:ext cx="5120640" cy="10973"/>
          </a:xfrm>
          <a:prstGeom prst="rect">
            <a:avLst/>
          </a:prstGeom>
          <a:solidFill>
            <a:srgbClr val="27313A"/>
          </a:solidFill>
          <a:ln/>
        </p:spPr>
      </p:sp>
      <p:sp>
        <p:nvSpPr>
          <p:cNvPr id="26" name="Text 23"/>
          <p:cNvSpPr/>
          <p:nvPr/>
        </p:nvSpPr>
        <p:spPr>
          <a:xfrm>
            <a:off x="6446520" y="525780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A6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component is shown on hover — the score is auditable in one glance, never a black box.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0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 </a:t>
            </a:r>
            <a:pPr indent="0" marL="0">
              <a:buNone/>
            </a:pPr>
            <a:r>
              <a:rPr lang="en-US" sz="1200" spc="300" kern="0" dirty="0">
                <a:solidFill>
                  <a:srgbClr val="9AA6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INSTRUMENT 02 — ENFORCEMENT EFFICIENCY GAP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37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PARKSENSE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6384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37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DF1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line that changes the shift plan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6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compare each station's congestion impact against its enforcement performance, then rank the divergence.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10908792" cy="2286000"/>
          </a:xfrm>
          <a:prstGeom prst="roundRect">
            <a:avLst>
              <a:gd name="adj" fmla="val 2000"/>
            </a:avLst>
          </a:prstGeom>
          <a:solidFill>
            <a:srgbClr val="161D23"/>
          </a:solidFill>
          <a:ln w="15875">
            <a:solidFill>
              <a:srgbClr val="F0A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31546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F0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WORKED EXAMPLE  ·  HAL OLD AIRPORT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352044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EDF1F5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94th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987552" y="45262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AA6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percentile for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AA6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congestion impact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43400" y="3611880"/>
            <a:ext cx="10973" cy="1280160"/>
          </a:xfrm>
          <a:prstGeom prst="rect">
            <a:avLst/>
          </a:prstGeom>
          <a:solidFill>
            <a:srgbClr val="27313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352044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C03A4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27th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4599432" y="45262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AA6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percentile for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AA6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enforcement performance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55280" y="3611880"/>
            <a:ext cx="10973" cy="1280160"/>
          </a:xfrm>
          <a:prstGeom prst="rect">
            <a:avLst/>
          </a:prstGeom>
          <a:solidFill>
            <a:srgbClr val="27313A"/>
          </a:solidFill>
          <a:ln/>
        </p:spPr>
      </p:sp>
      <p:sp>
        <p:nvSpPr>
          <p:cNvPr id="15" name="Text 13"/>
          <p:cNvSpPr/>
          <p:nvPr/>
        </p:nvSpPr>
        <p:spPr>
          <a:xfrm>
            <a:off x="8183880" y="352044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F0A93B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0.68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8211312" y="45262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AA6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enforcement gap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AA6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(impact − performance)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55321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DF1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damage, low coverage. ParkSense flags 18 such stations — a ready-made patrol-reallocation list.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0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 </a:t>
            </a:r>
            <a:pPr indent="0" marL="0">
              <a:buNone/>
            </a:pPr>
            <a:r>
              <a:rPr lang="en-US" sz="1200" spc="300" kern="0" dirty="0">
                <a:solidFill>
                  <a:srgbClr val="9AA6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INSTRUMENT 03 — HOTSPOT FORECASTING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37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PARKSENSE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6384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37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DF1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Forecast the next day — honestly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9AA6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daily per-cell LightGBM model on lag, calendar and spatial-neighbour features, validated on a held-out final 21 days the model never trains 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063240"/>
            <a:ext cx="3456432" cy="1691640"/>
          </a:xfrm>
          <a:prstGeom prst="roundRect">
            <a:avLst>
              <a:gd name="adj" fmla="val 2703"/>
            </a:avLst>
          </a:prstGeom>
          <a:solidFill>
            <a:srgbClr val="161D23"/>
          </a:solidFill>
          <a:ln w="12700">
            <a:solidFill>
              <a:srgbClr val="2731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24612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F0A93B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3.77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932688" y="4206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6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MAE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43400" y="3063240"/>
            <a:ext cx="3456432" cy="1691640"/>
          </a:xfrm>
          <a:prstGeom prst="roundRect">
            <a:avLst>
              <a:gd name="adj" fmla="val 2703"/>
            </a:avLst>
          </a:prstGeom>
          <a:solidFill>
            <a:srgbClr val="161D23"/>
          </a:solidFill>
          <a:ln w="12700">
            <a:solidFill>
              <a:srgbClr val="2731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324612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9AA6B1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4.23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4636008" y="4206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6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Naïve baseline MAE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46720" y="3063240"/>
            <a:ext cx="3456432" cy="1691640"/>
          </a:xfrm>
          <a:prstGeom prst="roundRect">
            <a:avLst>
              <a:gd name="adj" fmla="val 2703"/>
            </a:avLst>
          </a:prstGeom>
          <a:solidFill>
            <a:srgbClr val="161D23"/>
          </a:solidFill>
          <a:ln w="12700">
            <a:solidFill>
              <a:srgbClr val="2731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324612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56CCD6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+11%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8339328" y="4206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6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 vs. baseline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51206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6370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publish the persistence baseline next to the model, so the gain is provable — not asserted. A rolling z-score flags 28 emerging watch zones before they peak.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0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 </a:t>
            </a:r>
            <a:pPr indent="0" marL="0">
              <a:buNone/>
            </a:pPr>
            <a:r>
              <a:rPr lang="en-US" sz="1200" spc="300" kern="0" dirty="0">
                <a:solidFill>
                  <a:srgbClr val="9AA6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37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PARKSENSE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6384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37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DF1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Built for a control room</a:t>
            </a:r>
            <a:endParaRPr lang="en-US" sz="3300" dirty="0"/>
          </a:p>
        </p:txBody>
      </p:sp>
      <p:pic>
        <p:nvPicPr>
          <p:cNvPr id="6" name="Image 0" descr="C:/Users/Kesha/Desktop/gridlock/docs/screenshots/01_command_heat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194560"/>
            <a:ext cx="5349240" cy="3008376"/>
          </a:xfrm>
          <a:prstGeom prst="rect">
            <a:avLst/>
          </a:prstGeom>
        </p:spPr>
      </p:pic>
      <p:pic>
        <p:nvPicPr>
          <p:cNvPr id="7" name="Image 1" descr="C:/Users/Kesha/Desktop/gridlock/docs/screenshots/03_analytic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99632" y="2194560"/>
            <a:ext cx="5349240" cy="30083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5285232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6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Command view — live impact heatmap, filter rail, prioritised action panel.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199632" y="5285232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6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 view — temporal pressure, composition, enforcement latency.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6C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  </a:t>
            </a:r>
            <a:pPr indent="0" marL="0">
              <a:buNone/>
            </a:pPr>
            <a:r>
              <a:rPr lang="en-US" sz="1200" spc="300" kern="0" dirty="0">
                <a:solidFill>
                  <a:srgbClr val="9AA6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37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PARKSENSE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6384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37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DF1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Engineered like a product, not a demo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5303520" cy="1572768"/>
          </a:xfrm>
          <a:prstGeom prst="roundRect">
            <a:avLst>
              <a:gd name="adj" fmla="val 2907"/>
            </a:avLst>
          </a:prstGeom>
          <a:solidFill>
            <a:srgbClr val="161D23"/>
          </a:solidFill>
          <a:ln w="12700">
            <a:solidFill>
              <a:srgbClr val="2731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240280"/>
            <a:ext cx="54864" cy="1572768"/>
          </a:xfrm>
          <a:prstGeom prst="rect">
            <a:avLst/>
          </a:prstGeom>
          <a:solidFill>
            <a:srgbClr val="56CCD6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244144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6C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Zero hardcoding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32688" y="288036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AA6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Peak hours, thresholds, quantiles and filters are derived at runtime; all tunables live in one config.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45352" y="2240280"/>
            <a:ext cx="5303520" cy="1572768"/>
          </a:xfrm>
          <a:prstGeom prst="roundRect">
            <a:avLst>
              <a:gd name="adj" fmla="val 2907"/>
            </a:avLst>
          </a:prstGeom>
          <a:solidFill>
            <a:srgbClr val="161D23"/>
          </a:solidFill>
          <a:ln w="12700">
            <a:solidFill>
              <a:srgbClr val="2731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45352" y="2240280"/>
            <a:ext cx="54864" cy="1572768"/>
          </a:xfrm>
          <a:prstGeom prst="rect">
            <a:avLst/>
          </a:prstGeom>
          <a:solidFill>
            <a:srgbClr val="56CCD6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244144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6C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Intellectual honesty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37960" y="288036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AA6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finding action/closed fields 100% empty, we used the populated validation lifecycle — no invented metrics.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5303520" cy="1572768"/>
          </a:xfrm>
          <a:prstGeom prst="roundRect">
            <a:avLst>
              <a:gd name="adj" fmla="val 2907"/>
            </a:avLst>
          </a:prstGeom>
          <a:solidFill>
            <a:srgbClr val="161D23"/>
          </a:solidFill>
          <a:ln w="12700">
            <a:solidFill>
              <a:srgbClr val="2731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4023360"/>
            <a:ext cx="54864" cy="1572768"/>
          </a:xfrm>
          <a:prstGeom prst="rect">
            <a:avLst/>
          </a:prstGeom>
          <a:solidFill>
            <a:srgbClr val="56CCD6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422452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6C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Reproducible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32688" y="466344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AA6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command rebuilds parquet, scores and the model from raw data in ~30s. Unit tests cover the scoring core.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45352" y="4023360"/>
            <a:ext cx="5303520" cy="1572768"/>
          </a:xfrm>
          <a:prstGeom prst="roundRect">
            <a:avLst>
              <a:gd name="adj" fmla="val 2907"/>
            </a:avLst>
          </a:prstGeom>
          <a:solidFill>
            <a:srgbClr val="161D23"/>
          </a:solidFill>
          <a:ln w="12700">
            <a:solidFill>
              <a:srgbClr val="2731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45352" y="4023360"/>
            <a:ext cx="54864" cy="1572768"/>
          </a:xfrm>
          <a:prstGeom prst="rect">
            <a:avLst/>
          </a:prstGeom>
          <a:solidFill>
            <a:srgbClr val="56CCD6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422452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6C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Real stack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537960" y="466344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AA6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FastAPI · DuckDB · Uber H3 · LightGBM backend; React · TypeScript · MapLibre · deck.gl console.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Kesha/Desktop/gridlock/docs/screenshots/03_analytic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0"/>
            <a:ext cx="588233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309360" cy="6858000"/>
          </a:xfrm>
          <a:prstGeom prst="rect">
            <a:avLst/>
          </a:prstGeom>
          <a:solidFill>
            <a:srgbClr val="0E1216"/>
          </a:solidFill>
          <a:ln/>
        </p:spPr>
      </p:sp>
      <p:sp>
        <p:nvSpPr>
          <p:cNvPr id="4" name="Shape 1"/>
          <p:cNvSpPr/>
          <p:nvPr/>
        </p:nvSpPr>
        <p:spPr>
          <a:xfrm>
            <a:off x="6291072" y="0"/>
            <a:ext cx="27432" cy="6858000"/>
          </a:xfrm>
          <a:prstGeom prst="rect">
            <a:avLst/>
          </a:prstGeom>
          <a:solidFill>
            <a:srgbClr val="F0A93B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1965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37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 298K-ROW LOG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76656" y="233172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EDF1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 a daily</a:t>
            </a:r>
            <a:endParaRPr lang="en-US" sz="4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EDF1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patrol plan.</a:t>
            </a:r>
            <a:endParaRPr lang="en-US" sz="4200" dirty="0"/>
          </a:p>
        </p:txBody>
      </p:sp>
      <p:sp>
        <p:nvSpPr>
          <p:cNvPr id="7" name="Shape 4"/>
          <p:cNvSpPr/>
          <p:nvPr/>
        </p:nvSpPr>
        <p:spPr>
          <a:xfrm>
            <a:off x="731520" y="4160520"/>
            <a:ext cx="502920" cy="18288"/>
          </a:xfrm>
          <a:prstGeom prst="rect">
            <a:avLst/>
          </a:prstGeom>
          <a:solidFill>
            <a:srgbClr val="3A4650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4343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  </a:t>
            </a:r>
            <a:pPr indent="0" marL="0">
              <a:buNone/>
            </a:pPr>
            <a:r>
              <a:rPr lang="en-US" sz="1200" dirty="0">
                <a:solidFill>
                  <a:srgbClr val="EDF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parksense-e1w1.onrender.com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  </a:t>
            </a:r>
            <a:pPr indent="0" marL="0">
              <a:buNone/>
            </a:pPr>
            <a:r>
              <a:rPr lang="en-US" sz="1200" dirty="0">
                <a:solidFill>
                  <a:srgbClr val="EDF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github.com/keshavhacker1609/parksense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5577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Keshav Singla · Aadya Jain · Purva Jain · Shravani Singh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2026-06-16T06:40:45Z</dcterms:created>
  <dcterms:modified xsi:type="dcterms:W3CDTF">2026-06-16T06:40:45Z</dcterms:modified>
</cp:coreProperties>
</file>